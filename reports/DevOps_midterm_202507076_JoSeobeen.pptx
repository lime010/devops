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26d9f196eb48a9" /><Relationship Type="http://schemas.openxmlformats.org/officeDocument/2006/relationships/extended-properties" Target="/docProps/app.xml" Id="R5375c2201bf241c9" /><Relationship Type="http://schemas.openxmlformats.org/officeDocument/2006/relationships/officeDocument" Target="/ppt/presentation.xml" Id="R0c1e6588699440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52ecde276f491d"/>
  </p:sldMasterIdLst>
  <p:notesMasterIdLst>
    <p:notesMasterId xmlns:r="http://schemas.openxmlformats.org/officeDocument/2006/relationships" r:id="R19f602ee8dab4642"/>
  </p:notesMasterIdLst>
  <p:sldIdLst>
    <p:sldId xmlns:r="http://schemas.openxmlformats.org/officeDocument/2006/relationships" id="256" r:id="R46cfecd4313b4db4"/>
    <p:sldId xmlns:r="http://schemas.openxmlformats.org/officeDocument/2006/relationships" id="257" r:id="R1db46fb398034501"/>
    <p:sldId xmlns:r="http://schemas.openxmlformats.org/officeDocument/2006/relationships" id="258" r:id="Rb1dc047f9c1f4366"/>
    <p:sldId xmlns:r="http://schemas.openxmlformats.org/officeDocument/2006/relationships" id="259" r:id="R51aa7e315641498a"/>
    <p:sldId xmlns:r="http://schemas.openxmlformats.org/officeDocument/2006/relationships" id="260" r:id="R910315964ae445a0"/>
    <p:sldId xmlns:r="http://schemas.openxmlformats.org/officeDocument/2006/relationships" id="261" r:id="R39eac0b68e3341d0"/>
    <p:sldId xmlns:r="http://schemas.openxmlformats.org/officeDocument/2006/relationships" id="262" r:id="Rf9a7b02a8abe40f0"/>
    <p:sldId xmlns:r="http://schemas.openxmlformats.org/officeDocument/2006/relationships" id="263" r:id="R5defe1890bbc4fa1"/>
    <p:sldId xmlns:r="http://schemas.openxmlformats.org/officeDocument/2006/relationships" id="264" r:id="Rd7d58b0b1fa24a4d"/>
    <p:sldId xmlns:r="http://schemas.openxmlformats.org/officeDocument/2006/relationships" id="265" r:id="R9983a4d860744d0c"/>
    <p:sldId xmlns:r="http://schemas.openxmlformats.org/officeDocument/2006/relationships" id="266" r:id="R066157f61f304f73"/>
    <p:sldId xmlns:r="http://schemas.openxmlformats.org/officeDocument/2006/relationships" id="267" r:id="R9cab64fa3f6d4c0f"/>
    <p:sldId xmlns:r="http://schemas.openxmlformats.org/officeDocument/2006/relationships" id="268" r:id="R46e3f26ddd8c4d29"/>
    <p:sldId xmlns:r="http://schemas.openxmlformats.org/officeDocument/2006/relationships" id="269" r:id="R358d6a1799294f78"/>
    <p:sldId xmlns:r="http://schemas.openxmlformats.org/officeDocument/2006/relationships" id="270" r:id="R1a80c02099ea462d"/>
    <p:sldId xmlns:r="http://schemas.openxmlformats.org/officeDocument/2006/relationships" id="271" r:id="R06dbb5e05c374dff"/>
    <p:sldId xmlns:r="http://schemas.openxmlformats.org/officeDocument/2006/relationships" id="272" r:id="R45707f0e839d4c54"/>
    <p:sldId xmlns:r="http://schemas.openxmlformats.org/officeDocument/2006/relationships" id="273" r:id="R33e8204d5eb5469d"/>
    <p:sldId xmlns:r="http://schemas.openxmlformats.org/officeDocument/2006/relationships" id="274" r:id="R47c613227304406a"/>
    <p:sldId xmlns:r="http://schemas.openxmlformats.org/officeDocument/2006/relationships" id="275" r:id="R735df57bfc474e86"/>
    <p:sldId xmlns:r="http://schemas.openxmlformats.org/officeDocument/2006/relationships" id="276" r:id="R51e4e7e3cd2047fc"/>
    <p:sldId xmlns:r="http://schemas.openxmlformats.org/officeDocument/2006/relationships" id="277" r:id="R0524fedd306143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618ecf91704188" /><Relationship Type="http://schemas.openxmlformats.org/officeDocument/2006/relationships/slideMaster" Target="/ppt/slideMasters/slideMaster1.xml" Id="R5752ecde276f491d" /><Relationship Type="http://schemas.openxmlformats.org/officeDocument/2006/relationships/notesMaster" Target="/ppt/notesMasters/notesMaster1.xml" Id="R19f602ee8dab4642" /><Relationship Type="http://schemas.openxmlformats.org/officeDocument/2006/relationships/presProps" Target="/ppt/presProps.xml" Id="R0ffdac0be0f6431b" /><Relationship Type="http://schemas.openxmlformats.org/officeDocument/2006/relationships/tableStyles" Target="/ppt/tableStyles.xml" Id="R8b6d912b25a740ea" /><Relationship Type="http://schemas.openxmlformats.org/officeDocument/2006/relationships/slide" Target="/ppt/slides/slide1.xml" Id="R46cfecd4313b4db4" /><Relationship Type="http://schemas.openxmlformats.org/officeDocument/2006/relationships/slide" Target="/ppt/slides/slide2.xml" Id="R1db46fb398034501" /><Relationship Type="http://schemas.openxmlformats.org/officeDocument/2006/relationships/slide" Target="/ppt/slides/slide3.xml" Id="Rb1dc047f9c1f4366" /><Relationship Type="http://schemas.openxmlformats.org/officeDocument/2006/relationships/slide" Target="/ppt/slides/slide4.xml" Id="R51aa7e315641498a" /><Relationship Type="http://schemas.openxmlformats.org/officeDocument/2006/relationships/slide" Target="/ppt/slides/slide5.xml" Id="R910315964ae445a0" /><Relationship Type="http://schemas.openxmlformats.org/officeDocument/2006/relationships/slide" Target="/ppt/slides/slide6.xml" Id="R39eac0b68e3341d0" /><Relationship Type="http://schemas.openxmlformats.org/officeDocument/2006/relationships/slide" Target="/ppt/slides/slide7.xml" Id="Rf9a7b02a8abe40f0" /><Relationship Type="http://schemas.openxmlformats.org/officeDocument/2006/relationships/slide" Target="/ppt/slides/slide8.xml" Id="R5defe1890bbc4fa1" /><Relationship Type="http://schemas.openxmlformats.org/officeDocument/2006/relationships/slide" Target="/ppt/slides/slide9.xml" Id="Rd7d58b0b1fa24a4d" /><Relationship Type="http://schemas.openxmlformats.org/officeDocument/2006/relationships/slide" Target="/ppt/slides/slide10.xml" Id="R9983a4d860744d0c" /><Relationship Type="http://schemas.openxmlformats.org/officeDocument/2006/relationships/slide" Target="/ppt/slides/slide11.xml" Id="R066157f61f304f73" /><Relationship Type="http://schemas.openxmlformats.org/officeDocument/2006/relationships/slide" Target="/ppt/slides/slide12.xml" Id="R9cab64fa3f6d4c0f" /><Relationship Type="http://schemas.openxmlformats.org/officeDocument/2006/relationships/slide" Target="/ppt/slides/slide13.xml" Id="R46e3f26ddd8c4d29" /><Relationship Type="http://schemas.openxmlformats.org/officeDocument/2006/relationships/slide" Target="/ppt/slides/slide14.xml" Id="R358d6a1799294f78" /><Relationship Type="http://schemas.openxmlformats.org/officeDocument/2006/relationships/slide" Target="/ppt/slides/slide15.xml" Id="R1a80c02099ea462d" /><Relationship Type="http://schemas.openxmlformats.org/officeDocument/2006/relationships/slide" Target="/ppt/slides/slide16.xml" Id="R06dbb5e05c374dff" /><Relationship Type="http://schemas.openxmlformats.org/officeDocument/2006/relationships/slide" Target="/ppt/slides/slide17.xml" Id="R45707f0e839d4c54" /><Relationship Type="http://schemas.openxmlformats.org/officeDocument/2006/relationships/slide" Target="/ppt/slides/slide18.xml" Id="R33e8204d5eb5469d" /><Relationship Type="http://schemas.openxmlformats.org/officeDocument/2006/relationships/slide" Target="/ppt/slides/slide19.xml" Id="R47c613227304406a" /><Relationship Type="http://schemas.openxmlformats.org/officeDocument/2006/relationships/slide" Target="/ppt/slides/slide20.xml" Id="R735df57bfc474e86" /><Relationship Type="http://schemas.openxmlformats.org/officeDocument/2006/relationships/slide" Target="/ppt/slides/slide21.xml" Id="R51e4e7e3cd2047fc" /><Relationship Type="http://schemas.openxmlformats.org/officeDocument/2006/relationships/slide" Target="/ppt/slides/slide22.xml" Id="R0524fedd306143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4e9dd089fa4a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66c818e9fe47ab" /><Relationship Type="http://schemas.openxmlformats.org/officeDocument/2006/relationships/notesMaster" Target="/ppt/notesMasters/notesMaster1.xml" Id="R84c86c96ab6241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95da89335142ea" /><Relationship Type="http://schemas.openxmlformats.org/officeDocument/2006/relationships/notesMaster" Target="/ppt/notesMasters/notesMaster1.xml" Id="Rebf2578ecaf541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9e5efbfbe475a" /><Relationship Type="http://schemas.openxmlformats.org/officeDocument/2006/relationships/notesMaster" Target="/ppt/notesMasters/notesMaster1.xml" Id="R75860180724f44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ea179d108047dc" /><Relationship Type="http://schemas.openxmlformats.org/officeDocument/2006/relationships/notesMaster" Target="/ppt/notesMasters/notesMaster1.xml" Id="R1d2d7793715647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353a1dd34c4aec" /><Relationship Type="http://schemas.openxmlformats.org/officeDocument/2006/relationships/notesMaster" Target="/ppt/notesMasters/notesMaster1.xml" Id="R2a0fbaaa8bd3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bf41faa1794040" /><Relationship Type="http://schemas.openxmlformats.org/officeDocument/2006/relationships/notesMaster" Target="/ppt/notesMasters/notesMaster1.xml" Id="R4ca5903f957c48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2b99a5280546e5" /><Relationship Type="http://schemas.openxmlformats.org/officeDocument/2006/relationships/notesMaster" Target="/ppt/notesMasters/notesMaster1.xml" Id="Rd2471dec9a2f44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3d6fe4afa04be3" /><Relationship Type="http://schemas.openxmlformats.org/officeDocument/2006/relationships/notesMaster" Target="/ppt/notesMasters/notesMaster1.xml" Id="R031fdeeae69d41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3ee43f29d448a2" /><Relationship Type="http://schemas.openxmlformats.org/officeDocument/2006/relationships/notesMaster" Target="/ppt/notesMasters/notesMaster1.xml" Id="Ra1a2ddde14c449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906be7d562473b" /><Relationship Type="http://schemas.openxmlformats.org/officeDocument/2006/relationships/notesMaster" Target="/ppt/notesMasters/notesMaster1.xml" Id="R8c68dd9dfab0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4959e6ceaa4c5c" /><Relationship Type="http://schemas.openxmlformats.org/officeDocument/2006/relationships/notesMaster" Target="/ppt/notesMasters/notesMaster1.xml" Id="R3a3486b865d94b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58c8b69c364991" /><Relationship Type="http://schemas.openxmlformats.org/officeDocument/2006/relationships/notesMaster" Target="/ppt/notesMasters/notesMaster1.xml" Id="Rc2a685b6eb9540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e8f115e6fc438c" /><Relationship Type="http://schemas.openxmlformats.org/officeDocument/2006/relationships/notesMaster" Target="/ppt/notesMasters/notesMaster1.xml" Id="R8fb7d1401af848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5c33f747a144c9" /><Relationship Type="http://schemas.openxmlformats.org/officeDocument/2006/relationships/notesMaster" Target="/ppt/notesMasters/notesMaster1.xml" Id="Rdb7302bbff7443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acbae497864ca4" /><Relationship Type="http://schemas.openxmlformats.org/officeDocument/2006/relationships/notesMaster" Target="/ppt/notesMasters/notesMaster1.xml" Id="Reae07038d0db49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dc995a23984ca5" /><Relationship Type="http://schemas.openxmlformats.org/officeDocument/2006/relationships/notesMaster" Target="/ppt/notesMasters/notesMaster1.xml" Id="Rc6da5f6fa57341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0e2b90b75545fa" /><Relationship Type="http://schemas.openxmlformats.org/officeDocument/2006/relationships/notesMaster" Target="/ppt/notesMasters/notesMaster1.xml" Id="R0524df25a5df47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0a5d91f6984e5a" /><Relationship Type="http://schemas.openxmlformats.org/officeDocument/2006/relationships/notesMaster" Target="/ppt/notesMasters/notesMaster1.xml" Id="R75dc8f82e4d248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39a56e01b042da" /><Relationship Type="http://schemas.openxmlformats.org/officeDocument/2006/relationships/notesMaster" Target="/ppt/notesMasters/notesMaster1.xml" Id="R2b61b1857ddb45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b6a9de61114157" /><Relationship Type="http://schemas.openxmlformats.org/officeDocument/2006/relationships/notesMaster" Target="/ppt/notesMasters/notesMaster1.xml" Id="R9b9a3a66bb7c4e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bccc87562c14f52" /><Relationship Type="http://schemas.openxmlformats.org/officeDocument/2006/relationships/notesMaster" Target="/ppt/notesMasters/notesMaster1.xml" Id="R5e2d6a80e4134a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a59b258026408a" /><Relationship Type="http://schemas.openxmlformats.org/officeDocument/2006/relationships/notesMaster" Target="/ppt/notesMasters/notesMaster1.xml" Id="R25a87e5aaa0d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eafb636d841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81d97a55243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d08db1f864f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ca2dac8b246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06d96aad440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a21957b074f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7AA6CF-F77A-43FC-8502-B3B1E2FE6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A00982-F186-4CE7-8CF3-3232CB0E78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05A9E1-6061-44AE-8247-037A64D997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8C29CD-B9C9-4577-B2F4-B33B30026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974AEC-98C6-4B25-927F-0FEECAAE95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83FB3E-4831-4D01-927D-C7403AB753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1049DC-7033-4D00-BA07-3406C02C41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C299DD-DB79-4E0F-8305-2AD196FBC5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4B7965-1807-44AA-A79D-3428DA8B37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890139-5822-4F81-AED5-17FBA607D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86ce4abe44814" /><Relationship Type="http://schemas.openxmlformats.org/officeDocument/2006/relationships/slideLayout" Target="/ppt/slideLayouts/slideLayout1.xml" Id="Rd13b77c0d4c64849" /><Relationship Type="http://schemas.openxmlformats.org/officeDocument/2006/relationships/slideLayout" Target="/ppt/slideLayouts/slideLayout2.xml" Id="Re72e85d5e52f4d9a" /><Relationship Type="http://schemas.openxmlformats.org/officeDocument/2006/relationships/slideLayout" Target="/ppt/slideLayouts/slideLayout3.xml" Id="Rb1e404b5b8004ea7" /><Relationship Type="http://schemas.openxmlformats.org/officeDocument/2006/relationships/slideLayout" Target="/ppt/slideLayouts/slideLayout4.xml" Id="R0f8cee935a484a8d" /><Relationship Type="http://schemas.openxmlformats.org/officeDocument/2006/relationships/slideLayout" Target="/ppt/slideLayouts/slideLayout5.xml" Id="Rb938185ab7584a5e" /><Relationship Type="http://schemas.openxmlformats.org/officeDocument/2006/relationships/slideLayout" Target="/ppt/slideLayouts/slideLayout6.xml" Id="R0cedc550ecdd4e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3b77c0d4c64849"/>
    <p:sldLayoutId xmlns:r="http://schemas.openxmlformats.org/officeDocument/2006/relationships" id="2147483650" r:id="Re72e85d5e52f4d9a"/>
    <p:sldLayoutId xmlns:r="http://schemas.openxmlformats.org/officeDocument/2006/relationships" id="2147483651" r:id="Rb1e404b5b8004ea7"/>
    <p:sldLayoutId xmlns:r="http://schemas.openxmlformats.org/officeDocument/2006/relationships" id="2147483652" r:id="R0f8cee935a484a8d"/>
    <p:sldLayoutId xmlns:r="http://schemas.openxmlformats.org/officeDocument/2006/relationships" id="2147483653" r:id="Rb938185ab7584a5e"/>
    <p:sldLayoutId xmlns:r="http://schemas.openxmlformats.org/officeDocument/2006/relationships" id="2147483654" r:id="R0cedc550ecdd4e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3f9b1d8de4485" /><Relationship Type="http://schemas.openxmlformats.org/officeDocument/2006/relationships/notesSlide" Target="/ppt/notesSlides/notesSlide1.xml" Id="R9548c01ce10946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4cf5a7aab4865" /><Relationship Type="http://schemas.openxmlformats.org/officeDocument/2006/relationships/notesSlide" Target="/ppt/notesSlides/notesSlide2.xml" Id="R4b5a2fa23f454c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00800bbf24ad4" /><Relationship Type="http://schemas.openxmlformats.org/officeDocument/2006/relationships/notesSlide" Target="/ppt/notesSlides/notesSlide3.xml" Id="R4ff727c46c4840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6f43c01324571" /><Relationship Type="http://schemas.openxmlformats.org/officeDocument/2006/relationships/notesSlide" Target="/ppt/notesSlides/notesSlide4.xml" Id="R6f4c37a4eabc48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33bdf68da4269" /><Relationship Type="http://schemas.openxmlformats.org/officeDocument/2006/relationships/notesSlide" Target="/ppt/notesSlides/notesSlide5.xml" Id="Rbadc4eb96b5545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7b1bb82764f29" /><Relationship Type="http://schemas.openxmlformats.org/officeDocument/2006/relationships/notesSlide" Target="/ppt/notesSlides/notesSlide6.xml" Id="R0afd3e44cec74f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b1b30fd244024" /><Relationship Type="http://schemas.openxmlformats.org/officeDocument/2006/relationships/notesSlide" Target="/ppt/notesSlides/notesSlide7.xml" Id="R999b88d2b5f94d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2c35826e943f9" /><Relationship Type="http://schemas.openxmlformats.org/officeDocument/2006/relationships/notesSlide" Target="/ppt/notesSlides/notesSlide8.xml" Id="R8a02fb2909bd4a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9c8e4c01948a8" /><Relationship Type="http://schemas.openxmlformats.org/officeDocument/2006/relationships/notesSlide" Target="/ppt/notesSlides/notesSlide9.xml" Id="R1ae65e6d10824d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a8fea6dba4b87" /><Relationship Type="http://schemas.openxmlformats.org/officeDocument/2006/relationships/notesSlide" Target="/ppt/notesSlides/notesSlide10.xml" Id="R0d2d9cbc715542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af38780a9497d" /><Relationship Type="http://schemas.openxmlformats.org/officeDocument/2006/relationships/notesSlide" Target="/ppt/notesSlides/notesSlide11.xml" Id="Rac7331b8320e4d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661fcbfe04aa8" /><Relationship Type="http://schemas.openxmlformats.org/officeDocument/2006/relationships/notesSlide" Target="/ppt/notesSlides/notesSlide12.xml" Id="R3fb54cd4c50e48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2a6bfed824486" /><Relationship Type="http://schemas.openxmlformats.org/officeDocument/2006/relationships/notesSlide" Target="/ppt/notesSlides/notesSlide13.xml" Id="Re929e0d93e274b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76cfb439c49ca" /><Relationship Type="http://schemas.openxmlformats.org/officeDocument/2006/relationships/notesSlide" Target="/ppt/notesSlides/notesSlide14.xml" Id="Ree4d91fd668342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ee8f67d2246e2" /><Relationship Type="http://schemas.openxmlformats.org/officeDocument/2006/relationships/notesSlide" Target="/ppt/notesSlides/notesSlide15.xml" Id="R53852804393546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d960899174f79" /><Relationship Type="http://schemas.openxmlformats.org/officeDocument/2006/relationships/notesSlide" Target="/ppt/notesSlides/notesSlide16.xml" Id="R86f400a1519547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60c3ffe464113" /><Relationship Type="http://schemas.openxmlformats.org/officeDocument/2006/relationships/notesSlide" Target="/ppt/notesSlides/notesSlide17.xml" Id="R9a5f4bdfcd6c4d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5f7a567084154" /><Relationship Type="http://schemas.openxmlformats.org/officeDocument/2006/relationships/notesSlide" Target="/ppt/notesSlides/notesSlide18.xml" Id="Rb60f3af91af649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6e76416574ad7" /><Relationship Type="http://schemas.openxmlformats.org/officeDocument/2006/relationships/notesSlide" Target="/ppt/notesSlides/notesSlide19.xml" Id="Reeb3b051be5b4f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d6586b7694887" /><Relationship Type="http://schemas.openxmlformats.org/officeDocument/2006/relationships/notesSlide" Target="/ppt/notesSlides/notesSlide20.xml" Id="R3c5f29887f324b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edefb67fc4c4e" /><Relationship Type="http://schemas.openxmlformats.org/officeDocument/2006/relationships/notesSlide" Target="/ppt/notesSlides/notesSlide21.xml" Id="Rd0b66823815141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6a112136c4caa" /><Relationship Type="http://schemas.openxmlformats.org/officeDocument/2006/relationships/notesSlide" Target="/ppt/notesSlides/notesSlide22.xml" Id="R1d5ceb10023c44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91F8D-B45B-4B07-96FA-1CEEC9DF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DevOps 중간종합평가 대체 프로젝트 보고서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BF3CD-40C3-4539-A293-C28B2941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222222"/>
                </a:solidFill>
              </a:defRPr>
            </a:defPPr>
            <a:lvl1pPr>
              <a:defRPr sz="2175">
                <a:solidFill>
                  <a:srgbClr val="222222"/>
                </a:solidFill>
              </a:defRPr>
            </a:lvl1pPr>
            <a:lvl2pPr>
              <a:defRPr sz="2175">
                <a:solidFill>
                  <a:srgbClr val="222222"/>
                </a:solidFill>
              </a:defRPr>
            </a:lvl2pPr>
            <a:lvl3pPr>
              <a:defRPr sz="2175">
                <a:solidFill>
                  <a:srgbClr val="222222"/>
                </a:solidFill>
              </a:defRPr>
            </a:lvl3pPr>
            <a:lvl4pPr>
              <a:defRPr sz="2175">
                <a:solidFill>
                  <a:srgbClr val="222222"/>
                </a:solidFill>
              </a:defRPr>
            </a:lvl4pPr>
            <a:lvl5pPr>
              <a:defRPr sz="2175">
                <a:solidFill>
                  <a:srgbClr val="222222"/>
                </a:solidFill>
              </a:defRPr>
            </a:lvl5pPr>
            <a:lvl6pPr>
              <a:defRPr sz="2175">
                <a:solidFill>
                  <a:srgbClr val="222222"/>
                </a:solidFill>
              </a:defRPr>
            </a:lvl6pPr>
            <a:lvl7pPr>
              <a:defRPr sz="2175">
                <a:solidFill>
                  <a:srgbClr val="222222"/>
                </a:solidFill>
              </a:defRPr>
            </a:lvl7pPr>
            <a:lvl8pPr>
              <a:defRPr sz="2175">
                <a:solidFill>
                  <a:srgbClr val="222222"/>
                </a:solidFill>
              </a:defRPr>
            </a:lvl8pPr>
            <a:lvl9pPr>
              <a:defRPr sz="21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컴퓨터정보공학과 202507076 조서빈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GitHub: github.com/Lime010/devops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교안 원본 적용 · 주차별 실습 · 자동 복구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F42F9-CDA0-44E4-A4FE-F723634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202507076 조서빈 · Ubuntu WSL2 실습</a:t>
            </a:r>
          </a:p>
        </p:txBody>
      </p:sp>
    </p:spTree>
    <p:extLst>
      <p:ext uri="{BB962C8B-B14F-4D97-AF65-F5344CB8AC3E}">
        <p14:creationId xmlns:p14="http://schemas.microsoft.com/office/powerpoint/2010/main" val="1708197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1BA3F-9AB8-4797-9053-E55906EC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3A0F9-2501-4AF8-BA6E-C63548B0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222222"/>
                </a:solidFill>
              </a:defRPr>
            </a:defPPr>
            <a:lvl1pPr>
              <a:defRPr sz="2175">
                <a:solidFill>
                  <a:srgbClr val="222222"/>
                </a:solidFill>
              </a:defRPr>
            </a:lvl1pPr>
            <a:lvl2pPr>
              <a:defRPr sz="2175">
                <a:solidFill>
                  <a:srgbClr val="222222"/>
                </a:solidFill>
              </a:defRPr>
            </a:lvl2pPr>
            <a:lvl3pPr>
              <a:defRPr sz="2175">
                <a:solidFill>
                  <a:srgbClr val="222222"/>
                </a:solidFill>
              </a:defRPr>
            </a:lvl3pPr>
            <a:lvl4pPr>
              <a:defRPr sz="2175">
                <a:solidFill>
                  <a:srgbClr val="222222"/>
                </a:solidFill>
              </a:defRPr>
            </a:lvl4pPr>
            <a:lvl5pPr>
              <a:defRPr sz="2175">
                <a:solidFill>
                  <a:srgbClr val="222222"/>
                </a:solidFill>
              </a:defRPr>
            </a:lvl5pPr>
            <a:lvl6pPr>
              <a:defRPr sz="2175">
                <a:solidFill>
                  <a:srgbClr val="222222"/>
                </a:solidFill>
              </a:defRPr>
            </a:lvl6pPr>
            <a:lvl7pPr>
              <a:defRPr sz="2175">
                <a:solidFill>
                  <a:srgbClr val="222222"/>
                </a:solidFill>
              </a:defRPr>
            </a:lvl7pPr>
            <a:lvl8pPr>
              <a:defRPr sz="2175">
                <a:solidFill>
                  <a:srgbClr val="222222"/>
                </a:solidFill>
              </a:defRPr>
            </a:lvl8pPr>
            <a:lvl9pPr>
              <a:defRPr sz="21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1. 저장소 공개와 프로젝트 구조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2. 주차별 README와 실습 결과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3. Issue부터 Merge까지의 과정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4. 7주차 48페이지 문제 해결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5. 제안 방법의 장단점과 한계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5166C-602B-46D7-8F82-F3F8074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202507076 조서빈 · Ubuntu WSL2 실습</a:t>
            </a:r>
          </a:p>
        </p:txBody>
      </p:sp>
    </p:spTree>
    <p:extLst>
      <p:ext uri="{BB962C8B-B14F-4D97-AF65-F5344CB8AC3E}">
        <p14:creationId xmlns:p14="http://schemas.microsoft.com/office/powerpoint/2010/main" val="1167040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75715-6D8D-4732-9E1A-60C12C55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1. GitHub 저장소와 실행 환경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5B5AF-7273-4583-9691-2E7B0403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C83F1-0266-47B6-BE9D-B47E4317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Repository: Lime010/devops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Visibility: Public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Default branch: 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Ubuntu 26.04.1 LTS / WSL2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Docker Engine 29.1.3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Compose 2.40.3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E9B51-DA6E-4197-A6AD-9A2B119E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공개 저장소에 코드와 실행 증거를 함께 기록했습니다.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Docker Desktop 대신 Ubuntu에 Docker Engine을 설치했습니다.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97DED-8336-40F1-AC12-EDAAE4BC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github.com/Lime010/devops · evidence/environment.txt</a:t>
            </a:r>
          </a:p>
        </p:txBody>
      </p:sp>
    </p:spTree>
    <p:extLst>
      <p:ext uri="{BB962C8B-B14F-4D97-AF65-F5344CB8AC3E}">
        <p14:creationId xmlns:p14="http://schemas.microsoft.com/office/powerpoint/2010/main" val="1161139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372FC-14B2-4A31-A699-94AA6E7D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1. 프로젝트 폴더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A2F71-0554-4651-BABE-68E74B0B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4902A-351F-4024-AE26-F1A6AF00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devops/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README.md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week02/README.md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week03/qwen-web/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week04/backup.sh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week05/README.md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week06/README.md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week07/README.md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guestbook/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evidence/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BCDBC-713F-4439-8D5A-B6E3882B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참고 저장소와 같이 수업 주차를 폴더 이름에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교안 03과 04는 4주차에 함께 정리했습니다.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방명록은 guestbook 하나를 계속 수정하고 Git으로 이력을 관리합니다.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6D737-B9F9-434A-98B3-D596DC38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202507076 조서빈 · Ubuntu WSL2 실습</a:t>
            </a:r>
          </a:p>
        </p:txBody>
      </p:sp>
    </p:spTree>
    <p:extLst>
      <p:ext uri="{BB962C8B-B14F-4D97-AF65-F5344CB8AC3E}">
        <p14:creationId xmlns:p14="http://schemas.microsoft.com/office/powerpoint/2010/main" val="1093854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F000A-AF42-4AA3-BCA9-1D88624B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2. 루트 README의 주차 매핑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98487-1328-4C91-9478-148ACDE9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FB278-A7D4-4896-A7A4-7A4FC6C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2주차  교안 01  환경과 Git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3주차  교안 02  셸과 Qwen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4주차  교안 03·04  자동화와 네트워크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5주차  교안 05  Docker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6주차  교안 06  Dockerfile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7주차  교안 07  Compose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D18FD-238F-4F0B-AA36-3268092B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루트 README에서 각 주차의 기록으로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주차별 문서는 핵심 개념, 명령, 결과, 증거 링크 순서로 읽을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EE63A-B46B-4132-80C0-D40815C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github.com/Lime010/devops/blob/main/README.md</a:t>
            </a:r>
          </a:p>
        </p:txBody>
      </p:sp>
    </p:spTree>
    <p:extLst>
      <p:ext uri="{BB962C8B-B14F-4D97-AF65-F5344CB8AC3E}">
        <p14:creationId xmlns:p14="http://schemas.microsoft.com/office/powerpoint/2010/main" val="947801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5418E-69D8-4192-A607-4EB662F9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2. 2주차: 환경과 버전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F6A4A-038B-4326-AE7F-C6FDCB59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5D9BF-C705-4132-B53B-5EAB7C70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/home/seobeen/devops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main 초기 커밋: 61fa3e9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작업 브랜치: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codex/midterm-devops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codex/course-originals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F171D-FB5F-4385-9000-CFD2127B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WSL2와 가상화 개념, Linux 명령어, Git 상태·커밋·브랜치를 정리했습니다.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작업 브랜치에서 변경하고 PR을 통해 main에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A0F85-039E-4633-98A7-56B56DCA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week02/README.md · evidence/environment.txt</a:t>
            </a:r>
          </a:p>
        </p:txBody>
      </p:sp>
    </p:spTree>
    <p:extLst>
      <p:ext uri="{BB962C8B-B14F-4D97-AF65-F5344CB8AC3E}">
        <p14:creationId xmlns:p14="http://schemas.microsoft.com/office/powerpoint/2010/main" val="4980725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8C4F3-EE8B-4849-8665-60D44429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2. 3주차: 원본 Qwen 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A15D7-3BC1-464E-A998-CBF7FFCD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4461A-8F0B-409C-9E72-B2A5B918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MODEL = qwen3:0.6b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WEB_PORT = 8000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POST field =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원본 chat.py POST: HTTP 200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Ollama: localhost:11434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48457-45A6-4FB6-9420-4A92DF3E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제공받은 chat.py 원본으로 교체했습니다.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웹앱이 질문을 Ollama에 보내고 모델의 답변을 HTML로 출력합니다.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start.sh는 경로와 Python·Ollama 연결을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81272-E69F-46BD-BA0B-16EBBC5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week03/qwen-web · evidence/original-qwen.html</a:t>
            </a:r>
          </a:p>
        </p:txBody>
      </p:sp>
    </p:spTree>
    <p:extLst>
      <p:ext uri="{BB962C8B-B14F-4D97-AF65-F5344CB8AC3E}">
        <p14:creationId xmlns:p14="http://schemas.microsoft.com/office/powerpoint/2010/main" val="1004345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DDCA2-70B5-43F2-9359-CF335BC3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2. 4주차: 백업과 복원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455EE-2B72-4E27-951A-FF90F1D9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D35BA-C083-49CD-882C-D80BAF25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$ grep -c ERROR test/server.log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$ bash backup.sh test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exit=0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$ diff -rq test restore-check/test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exit=0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2BBF7-FB06-41A7-8DF6-CE4C86FF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grep으로 ERROR 2개를 찾았습니다.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tar로 압축하고 복원한 뒤 diff 종료 코드 0을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백업 파일은 Git 추적 대상에서 제외했습니다.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A9DD7-7C32-4EDD-95D7-D52959D2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week04/README.md · evidence/basic-labs.txt</a:t>
            </a:r>
          </a:p>
        </p:txBody>
      </p:sp>
    </p:spTree>
    <p:extLst>
      <p:ext uri="{BB962C8B-B14F-4D97-AF65-F5344CB8AC3E}">
        <p14:creationId xmlns:p14="http://schemas.microsoft.com/office/powerpoint/2010/main" val="19289425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46671-E3E1-4975-8B67-EA0C51E9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2. 4주차: 네트워크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DA36C-85C4-4092-8538-738589F8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C1B48-F2AA-46F3-9AD8-37333A18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HTTP status=200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Second listener: [Errno 98] Address already in use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DNS github.com=20.200.245.247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State  Recv-Q Send-Q  Local Address:Port  Peer Address:Port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LISTEN 0      4096    127.0.0.53%lo:53         0.0.0.0:* 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F8F42-E8DC-47CF-9565-29B92A39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HTTP 서버의 응답과 포트 충돌을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IP는 주소, 포트는 서비스, DNS는 이름 해석을 담당합니다.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컨테이너 포트와 호스트 포트를 구분해 기록했습니다.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00BBF-EC9D-42CE-A9E8-30C48712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evidence/network.txt</a:t>
            </a:r>
          </a:p>
        </p:txBody>
      </p:sp>
    </p:spTree>
    <p:extLst>
      <p:ext uri="{BB962C8B-B14F-4D97-AF65-F5344CB8AC3E}">
        <p14:creationId xmlns:p14="http://schemas.microsoft.com/office/powerpoint/2010/main" val="174325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2E156-C1E3-470E-A981-AE6251FD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2. 5주차: Docker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A2B90-474E-40C0-B92B-61E45E47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8FDB-1B78-4770-895C-5DE94016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Hello from Docker!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This message shows that your installation appears to be working correctly.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To generate this message, Docker took the following steps: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1. The Docker client contacted the Docker daemon.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2. The Docker daemon pulled the "hello-world" image from the Docker Hub.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  (amd64)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3. The Docker daemon created a new container from that image which runs the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39B2B-F4E8-48B9-89F9-38A1618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hello-world 출력으로 Docker 실행을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Nginx와 Redis 이미지를 내려받아 Compose 실습에 사용했습니다.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이미지와 실행 중인 컨테이너의 차이를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90C1C-58AF-4FB2-BC4F-A303DBD9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week05/README.md · evidence/hello-world.txt</a:t>
            </a:r>
          </a:p>
        </p:txBody>
      </p:sp>
    </p:spTree>
    <p:extLst>
      <p:ext uri="{BB962C8B-B14F-4D97-AF65-F5344CB8AC3E}">
        <p14:creationId xmlns:p14="http://schemas.microsoft.com/office/powerpoint/2010/main" val="13917645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D2336-F6AE-4979-9592-F585C00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2. 6주차: 원본 Dockerfile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29D7A-A02E-4AD6-BDEE-0741B5EA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7C42F-3A01-4295-BD24-A8FD7C1A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FROM python:3.12-slim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WORKDIR /app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COPY requirements.txt .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RUN pip install --no-cache-dir -r requirements.txt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COPY . .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RUN useradd -m appuser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USER appuser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EXPOSE 5000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CMD ["python", "app.py"]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CA3B8-4E2A-47DF-B478-FE3FC387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교안 원본 ZIP의 Dockerfile을 적용했습니다.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의존성을 먼저 복사해 설치 캐시를 재사용하고, 실행은 appuser로 수행합니다.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.env가 COPY에 포함되지 않도록 제외했습니다.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E31BD-F9A6-477F-A50F-ECA55B5A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guestbook/Dockerfile · guestbook/.dockerignore</a:t>
            </a:r>
          </a:p>
        </p:txBody>
      </p:sp>
    </p:spTree>
    <p:extLst>
      <p:ext uri="{BB962C8B-B14F-4D97-AF65-F5344CB8AC3E}">
        <p14:creationId xmlns:p14="http://schemas.microsoft.com/office/powerpoint/2010/main" val="6225034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4AE6E-BC87-4FB9-8AEE-9A54865F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2. 7주차: 원본 Compose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49DE9-A244-4B71-B0AB-9BC9AD66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45E75-00EA-4F9A-9BA2-C3069B3E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nginx: 127.0.0.1:8080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web: 3 replicas / internal 5000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redis: internal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web healthcheck: /readyz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response host: /healthz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Redis persistence: named volume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34F3A-8748-4CF9-B750-B3B76A1B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원본 앱의 /readyz로 Redis 준비 상태를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/healthz는 응답 호스트 확인에 사용하며, DB 준비 여부와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.env는 Git에 포함하지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90D4D-B15A-4E7F-B949-C0A8B9D9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guestbook/compose.yaml · evidence/original-before.txt</a:t>
            </a:r>
          </a:p>
        </p:txBody>
      </p:sp>
    </p:spTree>
    <p:extLst>
      <p:ext uri="{BB962C8B-B14F-4D97-AF65-F5344CB8AC3E}">
        <p14:creationId xmlns:p14="http://schemas.microsoft.com/office/powerpoint/2010/main" val="3096895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9EFAE-3B4B-43CE-A593-88BC0ADD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2. 데이터 보존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E4341-F24B-45C0-9345-4C51DBE3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11CCD-DDE9-430F-9032-5DFB3384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web 재시작       글 유지: true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down 후 up        글 유지: true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down -v 후 up     글 유지: false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084D8-0431-4651-AAEF-C1241E33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이 실험은 초기 재현 구현에서 측정했습니다.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컨테이너를 지워도 볼륨은 유지되지만 -v는 볼륨까지 삭제합니다.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과제용 테스트 데이터 삭제는 사용자 승인 후 수행했습니다.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BD8C4-548F-45B1-95F3-31DC044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evidence/volume.json · 원본 교체 전 실험</a:t>
            </a:r>
          </a:p>
        </p:txBody>
      </p:sp>
    </p:spTree>
    <p:extLst>
      <p:ext uri="{BB962C8B-B14F-4D97-AF65-F5344CB8AC3E}">
        <p14:creationId xmlns:p14="http://schemas.microsoft.com/office/powerpoint/2010/main" val="6396784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D5925-F2B7-4129-8FBA-DF243495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3. Issue부터 Merge까지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37B62-22EF-4160-8B35-B639C95C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222222"/>
                </a:solidFill>
              </a:defRPr>
            </a:defPPr>
            <a:lvl1pPr>
              <a:defRPr sz="2175">
                <a:solidFill>
                  <a:srgbClr val="222222"/>
                </a:solidFill>
              </a:defRPr>
            </a:lvl1pPr>
            <a:lvl2pPr>
              <a:defRPr sz="2175">
                <a:solidFill>
                  <a:srgbClr val="222222"/>
                </a:solidFill>
              </a:defRPr>
            </a:lvl2pPr>
            <a:lvl3pPr>
              <a:defRPr sz="2175">
                <a:solidFill>
                  <a:srgbClr val="222222"/>
                </a:solidFill>
              </a:defRPr>
            </a:lvl3pPr>
            <a:lvl4pPr>
              <a:defRPr sz="2175">
                <a:solidFill>
                  <a:srgbClr val="222222"/>
                </a:solidFill>
              </a:defRPr>
            </a:lvl4pPr>
            <a:lvl5pPr>
              <a:defRPr sz="2175">
                <a:solidFill>
                  <a:srgbClr val="222222"/>
                </a:solidFill>
              </a:defRPr>
            </a:lvl5pPr>
            <a:lvl6pPr>
              <a:defRPr sz="2175">
                <a:solidFill>
                  <a:srgbClr val="222222"/>
                </a:solidFill>
              </a:defRPr>
            </a:lvl6pPr>
            <a:lvl7pPr>
              <a:defRPr sz="2175">
                <a:solidFill>
                  <a:srgbClr val="222222"/>
                </a:solidFill>
              </a:defRPr>
            </a:lvl7pPr>
            <a:lvl8pPr>
              <a:defRPr sz="2175">
                <a:solidFill>
                  <a:srgbClr val="222222"/>
                </a:solidFill>
              </a:defRPr>
            </a:lvl8pPr>
            <a:lvl9pPr>
              <a:defRPr sz="21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① Issue #1에 작업 목적과 완료 기준 작성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② codex/midterm-devops 브랜치에서 코드·문서 작업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③ 커밋 d573ffe, 4a0f218을 Push하고 PR #2 생성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④ 실행 결과와 변경 파일을 자체 검토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⑤ Merge 013cc1f, Closes #1로 Issue 자동 종료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⑥ 원본 적용·폴더 재구성은 후속 PR #3으로 반영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E1E44-93E4-4901-BF54-A68D0EF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github.com/Lime010/devops/issues/1 · /pull/2 · /pull/3</a:t>
            </a:r>
          </a:p>
        </p:txBody>
      </p:sp>
    </p:spTree>
    <p:extLst>
      <p:ext uri="{BB962C8B-B14F-4D97-AF65-F5344CB8AC3E}">
        <p14:creationId xmlns:p14="http://schemas.microsoft.com/office/powerpoint/2010/main" val="3910715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DDA4C-4313-45D3-88C7-CF98870A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4. 문제 상황: 하나를 멈추면?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12F24-14A1-4223-9718-158C4D9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B60A3-E6D8-45B3-9D36-F55D873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docker stop guestbook-web-2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정상 상태: web 3개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중지 직후: web 2개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중지 후 요청: 12/12 HTTP 200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370DB-3CBE-4414-A560-59D5194C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남은 웹들이 응답해 서비스는 유지됐습니다.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하지만 unless-stopped 정책은 사용자가 중지한 컨테이너를 다시 시작하지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오류가 없었던 이번 결과가 무중단을 보장하지는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02FE9-F2F1-439D-A10A-91D0993F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evidence/original-recovery.json</a:t>
            </a:r>
          </a:p>
        </p:txBody>
      </p:sp>
    </p:spTree>
    <p:extLst>
      <p:ext uri="{BB962C8B-B14F-4D97-AF65-F5344CB8AC3E}">
        <p14:creationId xmlns:p14="http://schemas.microsoft.com/office/powerpoint/2010/main" val="17728946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62067-1D16-4C50-AD93-964EE5B5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4. 원하는 상태를 주기적으로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937F0-F3D7-4233-A35F-EB688475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1C82B-B3C7-4D3C-BD34-3A1D35AE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#!/usr/bin/env bash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set -uo pipefail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cd "$(dirname "$0")" || exit 1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INTERVAL=${INTERVAL:-5}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[[ "$INTERVAL" =~ ^[1-9][0-9]*$ ]] || { echo "INTERVAL must be positive integer"; exit 1; }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trap 'echo "watcher stopped"; exit 0' INT TERM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while true; do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if ! ./reconcile.sh; then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  echo "$(date -Iseconds) reconcile failed; retry next interval" &gt;&amp;2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fi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sleep "$INTERVAL" &amp; wait $! || true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done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00415-D729-42AB-AB91-CB699A93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5초마다 reconcile.sh를 호출합니다.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복구 명령이 실패하면 기록을 남기고 다음 주기에 재시도합니다.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SIGTERM을 받으면 감시를 종료합니다.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584E8-FDA7-4437-A091-F3F0ADAB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guestbook/keep_web3.sh</a:t>
            </a:r>
          </a:p>
        </p:txBody>
      </p:sp>
    </p:spTree>
    <p:extLst>
      <p:ext uri="{BB962C8B-B14F-4D97-AF65-F5344CB8AC3E}">
        <p14:creationId xmlns:p14="http://schemas.microsoft.com/office/powerpoint/2010/main" val="1360348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F12BC-5D99-4803-8F1E-408C79EF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4. 복구 판단과 동시 실행 방지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ED489-7076-4DE5-8C53-F3E9370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2F69D-D97A-4EFD-912F-E7BC8560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#!/usr/bin/env bash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set -euo pipefail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cd "$(dirname "$0")"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exec 9&gt;/tmp/devops-midterm-reconcile.lock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flock -n 9 || exit 0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[[ -f .maintenance ]] &amp;&amp; { echo "maintenance: skipped"; exit 0; }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running=$(docker compose ps --status running -q web | wc -l)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echo "$(date -Iseconds) running=$running desired=3"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if [[ "$running" -ne 3 ]]; then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 docker compose up -d --no-build --scale web=3 --wait --wait-timeout 90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fi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DA6B1-322F-4D89-92CD-2EAEDAA4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running 필터와 ID 목록으로 개수를 셉니다.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3개와 다르면 Compose로 맞춥니다.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flock은 복구 중복 실행을 막고 .maintenance는 의도적인 점검을 허용합니다.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69476-AA22-4884-BE14-5A49E6F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guestbook/reconcile.sh</a:t>
            </a:r>
          </a:p>
        </p:txBody>
      </p:sp>
    </p:spTree>
    <p:extLst>
      <p:ext uri="{BB962C8B-B14F-4D97-AF65-F5344CB8AC3E}">
        <p14:creationId xmlns:p14="http://schemas.microsoft.com/office/powerpoint/2010/main" val="2623148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73B9E-C14E-443A-BD31-C401B45B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4. 자동 복구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AE0DB-ED53-41A4-9B41-291E4DEA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1A841-1059-41EF-87D0-0408DE8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2026-10-23T20:54:22+09:00 running=3 desired=3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2026-10-23T20:54:27+09:00 running=3 desired=3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2026-10-23T20:54:33+09:00 running=3 desired=3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2026-10-23T20:54:38+09:00 running=2 desired=3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Container guestbook-web-2  Starting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Container guestbook-web-2  Started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Container guestbook-web-2  Waiting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Container guestbook-web-2  Healthy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Container guestbook-web-2  Waiting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 Container guestbook-web-2  Healthy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01CE9-454C-4E31-8BAA-AEF2BDC8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20:54:38 KST에 2개 상태를 감지했습니다.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감시자가 web-2를 다시 시작했습니다.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stop 완료 후 약 7.2초에 실행 중인 3개를 관측했습니다. 준비 완료 시간과는 구분합니다.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048CE-8A6D-4AA8-A290-7791663A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evidence/original-watcher.log · original-recovery.json</a:t>
            </a:r>
          </a:p>
        </p:txBody>
      </p:sp>
    </p:spTree>
    <p:extLst>
      <p:ext uri="{BB962C8B-B14F-4D97-AF65-F5344CB8AC3E}">
        <p14:creationId xmlns:p14="http://schemas.microsoft.com/office/powerpoint/2010/main" val="16170937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EF9A2-4FA3-4DCD-93B5-B8CF9AC2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4. 감시자가 멈추면?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D0194-0D71-495C-A0F2-A4C0B05E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55555"/>
                </a:solidFill>
              </a:defRPr>
            </a:defPPr>
            <a:lvl1pPr>
              <a:defRPr sz="1425">
                <a:solidFill>
                  <a:srgbClr val="555555"/>
                </a:solidFill>
              </a:defRPr>
            </a:lvl1pPr>
            <a:lvl2pPr>
              <a:defRPr sz="1425">
                <a:solidFill>
                  <a:srgbClr val="555555"/>
                </a:solidFill>
              </a:defRPr>
            </a:lvl2pPr>
            <a:lvl3pPr>
              <a:defRPr sz="1425">
                <a:solidFill>
                  <a:srgbClr val="555555"/>
                </a:solidFill>
              </a:defRPr>
            </a:lvl3pPr>
            <a:lvl4pPr>
              <a:defRPr sz="1425">
                <a:solidFill>
                  <a:srgbClr val="555555"/>
                </a:solidFill>
              </a:defRPr>
            </a:lvl4pPr>
            <a:lvl5pPr>
              <a:defRPr sz="1425">
                <a:solidFill>
                  <a:srgbClr val="555555"/>
                </a:solidFill>
              </a:defRPr>
            </a:lvl5pPr>
            <a:lvl6pPr>
              <a:defRPr sz="1425">
                <a:solidFill>
                  <a:srgbClr val="555555"/>
                </a:solidFill>
              </a:defRPr>
            </a:lvl6pPr>
            <a:lvl7pPr>
              <a:defRPr sz="1425">
                <a:solidFill>
                  <a:srgbClr val="555555"/>
                </a:solidFill>
              </a:defRPr>
            </a:lvl7pPr>
            <a:lvl8pPr>
              <a:defRPr sz="1425">
                <a:solidFill>
                  <a:srgbClr val="555555"/>
                </a:solidFill>
              </a:defRPr>
            </a:lvl8pPr>
            <a:lvl9pPr>
              <a:defRPr sz="1425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실행 기록 / 코드 발췌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DD1E6-BD70-4267-A92D-482F9025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7324D"/>
                </a:solidFill>
              </a:defRPr>
            </a:defPPr>
            <a:lvl1pPr>
              <a:defRPr sz="1575">
                <a:solidFill>
                  <a:srgbClr val="17324D"/>
                </a:solidFill>
              </a:defRPr>
            </a:lvl1pPr>
            <a:lvl2pPr>
              <a:defRPr sz="1575">
                <a:solidFill>
                  <a:srgbClr val="17324D"/>
                </a:solidFill>
              </a:defRPr>
            </a:lvl2pPr>
            <a:lvl3pPr>
              <a:defRPr sz="1575">
                <a:solidFill>
                  <a:srgbClr val="17324D"/>
                </a:solidFill>
              </a:defRPr>
            </a:lvl3pPr>
            <a:lvl4pPr>
              <a:defRPr sz="1575">
                <a:solidFill>
                  <a:srgbClr val="17324D"/>
                </a:solidFill>
              </a:defRPr>
            </a:lvl4pPr>
            <a:lvl5pPr>
              <a:defRPr sz="1575">
                <a:solidFill>
                  <a:srgbClr val="17324D"/>
                </a:solidFill>
              </a:defRPr>
            </a:lvl5pPr>
            <a:lvl6pPr>
              <a:defRPr sz="1575">
                <a:solidFill>
                  <a:srgbClr val="17324D"/>
                </a:solidFill>
              </a:defRPr>
            </a:lvl6pPr>
            <a:lvl7pPr>
              <a:defRPr sz="1575">
                <a:solidFill>
                  <a:srgbClr val="17324D"/>
                </a:solidFill>
              </a:defRPr>
            </a:lvl7pPr>
            <a:lvl8pPr>
              <a:defRPr sz="1575">
                <a:solidFill>
                  <a:srgbClr val="17324D"/>
                </a:solidFill>
              </a:defRPr>
            </a:lvl8pPr>
            <a:lvl9pPr>
              <a:defRPr sz="1575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watcher stopped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docker stop guestbook-web-2</a:t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7초 대기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24D"/>
                </a:solidFill>
              </a:defRPr>
            </a:pPr>
            <a:r>
              <a:rPr sz="1575">
                <a:solidFill>
                  <a:srgbClr val="17324D"/>
                </a:solidFill>
              </a:rPr>
              <a:t>running web count =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092EB-B937-452D-8573-970A2596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43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22222"/>
                </a:solidFill>
              </a:defRPr>
            </a:defPPr>
            <a:lvl1pPr>
              <a:defRPr sz="1875">
                <a:solidFill>
                  <a:srgbClr val="222222"/>
                </a:solidFill>
              </a:defRPr>
            </a:lvl1pPr>
            <a:lvl2pPr>
              <a:defRPr sz="1875">
                <a:solidFill>
                  <a:srgbClr val="222222"/>
                </a:solidFill>
              </a:defRPr>
            </a:lvl2pPr>
            <a:lvl3pPr>
              <a:defRPr sz="1875">
                <a:solidFill>
                  <a:srgbClr val="222222"/>
                </a:solidFill>
              </a:defRPr>
            </a:lvl3pPr>
            <a:lvl4pPr>
              <a:defRPr sz="1875">
                <a:solidFill>
                  <a:srgbClr val="222222"/>
                </a:solidFill>
              </a:defRPr>
            </a:lvl4pPr>
            <a:lvl5pPr>
              <a:defRPr sz="1875">
                <a:solidFill>
                  <a:srgbClr val="222222"/>
                </a:solidFill>
              </a:defRPr>
            </a:lvl5pPr>
            <a:lvl6pPr>
              <a:defRPr sz="1875">
                <a:solidFill>
                  <a:srgbClr val="222222"/>
                </a:solidFill>
              </a:defRPr>
            </a:lvl6pPr>
            <a:lvl7pPr>
              <a:defRPr sz="1875">
                <a:solidFill>
                  <a:srgbClr val="222222"/>
                </a:solidFill>
              </a:defRPr>
            </a:lvl7pPr>
            <a:lvl8pPr>
              <a:defRPr sz="1875">
                <a:solidFill>
                  <a:srgbClr val="222222"/>
                </a:solidFill>
              </a:defRPr>
            </a:lvl8pPr>
            <a:lvl9pPr>
              <a:defRPr sz="18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감시자를 종료한 뒤 다시 중지하자 2개 상태가 유지됐습니다.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자동 복구는 감시자 실행에 의존합니다.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실험 종료 후 수동 복구로 web 3개 상태를 되돌렸습니다.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C9BA1-DCEF-4EA1-A24C-3AC4A40E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evidence/original-watcher-off.txt</a:t>
            </a:r>
          </a:p>
        </p:txBody>
      </p:sp>
    </p:spTree>
    <p:extLst>
      <p:ext uri="{BB962C8B-B14F-4D97-AF65-F5344CB8AC3E}">
        <p14:creationId xmlns:p14="http://schemas.microsoft.com/office/powerpoint/2010/main" val="12003574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A6930-6BB3-4073-A361-AF3E028B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5. 장점과 단점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0F01C-94E4-4090-B9E0-9A797B81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222222"/>
                </a:solidFill>
              </a:defRPr>
            </a:defPPr>
            <a:lvl1pPr>
              <a:defRPr sz="2175">
                <a:solidFill>
                  <a:srgbClr val="222222"/>
                </a:solidFill>
              </a:defRPr>
            </a:lvl1pPr>
            <a:lvl2pPr>
              <a:defRPr sz="2175">
                <a:solidFill>
                  <a:srgbClr val="222222"/>
                </a:solidFill>
              </a:defRPr>
            </a:lvl2pPr>
            <a:lvl3pPr>
              <a:defRPr sz="2175">
                <a:solidFill>
                  <a:srgbClr val="222222"/>
                </a:solidFill>
              </a:defRPr>
            </a:lvl3pPr>
            <a:lvl4pPr>
              <a:defRPr sz="2175">
                <a:solidFill>
                  <a:srgbClr val="222222"/>
                </a:solidFill>
              </a:defRPr>
            </a:lvl4pPr>
            <a:lvl5pPr>
              <a:defRPr sz="2175">
                <a:solidFill>
                  <a:srgbClr val="222222"/>
                </a:solidFill>
              </a:defRPr>
            </a:lvl5pPr>
            <a:lvl6pPr>
              <a:defRPr sz="2175">
                <a:solidFill>
                  <a:srgbClr val="222222"/>
                </a:solidFill>
              </a:defRPr>
            </a:lvl6pPr>
            <a:lvl7pPr>
              <a:defRPr sz="2175">
                <a:solidFill>
                  <a:srgbClr val="222222"/>
                </a:solidFill>
              </a:defRPr>
            </a:lvl7pPr>
            <a:lvl8pPr>
              <a:defRPr sz="2175">
                <a:solidFill>
                  <a:srgbClr val="222222"/>
                </a:solidFill>
              </a:defRPr>
            </a:lvl8pPr>
            <a:lvl9pPr>
              <a:defRPr sz="21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장점: 배운 셸과 Compose로 구현하고 변경·로그 확인이 쉽습니다.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실행 상태 필터를 사용하며, 중복 복구와 점검 상황을 고려했습니다.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단점: 점검 주기와 시작 시간이 더해져 복구 공백이 생깁니다.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의도적으로 web 수를 줄이면 다시 3개로 맞출 수 있습니다.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Docker 명령 오류와 반복 재시작의 원인을 별도로 분석해야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932B7-1746-472F-B033-45EF7D03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202507076 조서빈 · Ubuntu WSL2 실습</a:t>
            </a:r>
          </a:p>
        </p:txBody>
      </p:sp>
    </p:spTree>
    <p:extLst>
      <p:ext uri="{BB962C8B-B14F-4D97-AF65-F5344CB8AC3E}">
        <p14:creationId xmlns:p14="http://schemas.microsoft.com/office/powerpoint/2010/main" val="17085059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5A095-3BEA-476F-B8C5-E0226820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5. 한계와 개선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688D3-C84E-4647-80EC-DD6245DE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222222"/>
                </a:solidFill>
              </a:defRPr>
            </a:defPPr>
            <a:lvl1pPr>
              <a:defRPr sz="2175">
                <a:solidFill>
                  <a:srgbClr val="222222"/>
                </a:solidFill>
              </a:defRPr>
            </a:lvl1pPr>
            <a:lvl2pPr>
              <a:defRPr sz="2175">
                <a:solidFill>
                  <a:srgbClr val="222222"/>
                </a:solidFill>
              </a:defRPr>
            </a:lvl2pPr>
            <a:lvl3pPr>
              <a:defRPr sz="2175">
                <a:solidFill>
                  <a:srgbClr val="222222"/>
                </a:solidFill>
              </a:defRPr>
            </a:lvl3pPr>
            <a:lvl4pPr>
              <a:defRPr sz="2175">
                <a:solidFill>
                  <a:srgbClr val="222222"/>
                </a:solidFill>
              </a:defRPr>
            </a:lvl4pPr>
            <a:lvl5pPr>
              <a:defRPr sz="2175">
                <a:solidFill>
                  <a:srgbClr val="222222"/>
                </a:solidFill>
              </a:defRPr>
            </a:lvl5pPr>
            <a:lvl6pPr>
              <a:defRPr sz="2175">
                <a:solidFill>
                  <a:srgbClr val="222222"/>
                </a:solidFill>
              </a:defRPr>
            </a:lvl6pPr>
            <a:lvl7pPr>
              <a:defRPr sz="2175">
                <a:solidFill>
                  <a:srgbClr val="222222"/>
                </a:solidFill>
              </a:defRPr>
            </a:lvl7pPr>
            <a:lvl8pPr>
              <a:defRPr sz="2175">
                <a:solidFill>
                  <a:srgbClr val="222222"/>
                </a:solidFill>
              </a:defRPr>
            </a:lvl8pPr>
            <a:lvl9pPr>
              <a:defRPr sz="21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running이지만 unhealthy인 컨테이너는 현재 스크립트가 복구하지 못합니다.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감시자·호스트·Docker 데몬 장애에는 대응하지 못합니다.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Redis와 Nginx도 단일 장애점으로 남아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개선: health 검사, 제한된 재시도, 알림, systemd 감시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다중 노드 대응에는 DB·스토리지 고가용성까지 별도 설계가 필요합니다.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1E265-E8DE-464E-90FE-BE229083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202507076 조서빈 · Ubuntu WSL2 실습</a:t>
            </a:r>
          </a:p>
        </p:txBody>
      </p:sp>
    </p:spTree>
    <p:extLst>
      <p:ext uri="{BB962C8B-B14F-4D97-AF65-F5344CB8AC3E}">
        <p14:creationId xmlns:p14="http://schemas.microsoft.com/office/powerpoint/2010/main" val="9569242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2B85B-E794-4014-ABDE-E7FC7D69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22222"/>
                </a:solidFill>
              </a:defRPr>
            </a:defPPr>
            <a:lvl1pPr>
              <a:defRPr sz="2850">
                <a:solidFill>
                  <a:srgbClr val="222222"/>
                </a:solidFill>
              </a:defRPr>
            </a:lvl1pPr>
            <a:lvl2pPr>
              <a:defRPr sz="2850">
                <a:solidFill>
                  <a:srgbClr val="222222"/>
                </a:solidFill>
              </a:defRPr>
            </a:lvl2pPr>
            <a:lvl3pPr>
              <a:defRPr sz="2850">
                <a:solidFill>
                  <a:srgbClr val="222222"/>
                </a:solidFill>
              </a:defRPr>
            </a:lvl3pPr>
            <a:lvl4pPr>
              <a:defRPr sz="2850">
                <a:solidFill>
                  <a:srgbClr val="222222"/>
                </a:solidFill>
              </a:defRPr>
            </a:lvl4pPr>
            <a:lvl5pPr>
              <a:defRPr sz="2850">
                <a:solidFill>
                  <a:srgbClr val="222222"/>
                </a:solidFill>
              </a:defRPr>
            </a:lvl5pPr>
            <a:lvl6pPr>
              <a:defRPr sz="2850">
                <a:solidFill>
                  <a:srgbClr val="222222"/>
                </a:solidFill>
              </a:defRPr>
            </a:lvl6pPr>
            <a:lvl7pPr>
              <a:defRPr sz="2850">
                <a:solidFill>
                  <a:srgbClr val="222222"/>
                </a:solidFill>
              </a:defRPr>
            </a:lvl7pPr>
            <a:lvl8pPr>
              <a:defRPr sz="2850">
                <a:solidFill>
                  <a:srgbClr val="222222"/>
                </a:solidFill>
              </a:defRPr>
            </a:lvl8pPr>
            <a:lvl9pPr>
              <a:defRPr sz="2850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22222"/>
                </a:solidFill>
              </a:defRPr>
            </a:pPr>
            <a:r>
              <a:rPr sz="2850">
                <a:solidFill>
                  <a:srgbClr val="222222"/>
                </a:solidFill>
              </a:rPr>
              <a:t>출처와 수행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DC9FD-800F-4FE0-A8FC-BD665C12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222222"/>
                </a:solidFill>
              </a:defRPr>
            </a:defPPr>
            <a:lvl1pPr>
              <a:defRPr sz="2175">
                <a:solidFill>
                  <a:srgbClr val="222222"/>
                </a:solidFill>
              </a:defRPr>
            </a:lvl1pPr>
            <a:lvl2pPr>
              <a:defRPr sz="2175">
                <a:solidFill>
                  <a:srgbClr val="222222"/>
                </a:solidFill>
              </a:defRPr>
            </a:lvl2pPr>
            <a:lvl3pPr>
              <a:defRPr sz="2175">
                <a:solidFill>
                  <a:srgbClr val="222222"/>
                </a:solidFill>
              </a:defRPr>
            </a:lvl3pPr>
            <a:lvl4pPr>
              <a:defRPr sz="2175">
                <a:solidFill>
                  <a:srgbClr val="222222"/>
                </a:solidFill>
              </a:defRPr>
            </a:lvl4pPr>
            <a:lvl5pPr>
              <a:defRPr sz="2175">
                <a:solidFill>
                  <a:srgbClr val="222222"/>
                </a:solidFill>
              </a:defRPr>
            </a:lvl5pPr>
            <a:lvl6pPr>
              <a:defRPr sz="2175">
                <a:solidFill>
                  <a:srgbClr val="222222"/>
                </a:solidFill>
              </a:defRPr>
            </a:lvl6pPr>
            <a:lvl7pPr>
              <a:defRPr sz="2175">
                <a:solidFill>
                  <a:srgbClr val="222222"/>
                </a:solidFill>
              </a:defRPr>
            </a:lvl7pPr>
            <a:lvl8pPr>
              <a:defRPr sz="2175">
                <a:solidFill>
                  <a:srgbClr val="222222"/>
                </a:solidFill>
              </a:defRPr>
            </a:lvl8pPr>
            <a:lvl9pPr>
              <a:defRPr sz="2175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교안 01~07, 제공받은 guestbook-week07.zip과 chat.py 사용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구성 참고: OMORI-Aubrey/DevOps 및 제공된 참고 보고서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실행 증거: Lime010/devops/evidence (본인 환경 측정)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GHCR 배포·친구 이미지 실습은 미완료입니다.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보고서의 실행 증거는 저장소의 실제 로그와 코드에서 발췌했습니다.</a:t>
            </a:r>
          </a:p>
          <a:p xmlns:a="http://schemas.openxmlformats.org/drawingml/2006/main">
            <a:pPr>
              <a:defRPr sz="2175">
                <a:solidFill>
                  <a:srgbClr val="222222"/>
                </a:solidFill>
              </a:defRPr>
            </a:pPr>
            <a:r>
              <a:rPr sz="2175">
                <a:solidFill>
                  <a:srgbClr val="222222"/>
                </a:solidFill>
              </a:rPr>
              <a:t>감시자는 실험 후 종료했으며 재부팅 자동 실행은 등록하지 않았습니다.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AEE87-ACDB-42BB-BC0E-A8E1E4BA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</a:defRPr>
            </a:defPPr>
            <a:lvl1pPr>
              <a:defRPr sz="1200">
                <a:solidFill>
                  <a:srgbClr val="666666"/>
                </a:solidFill>
              </a:defRPr>
            </a:lvl1pPr>
            <a:lvl2pPr>
              <a:defRPr sz="1200">
                <a:solidFill>
                  <a:srgbClr val="666666"/>
                </a:solidFill>
              </a:defRPr>
            </a:lvl2pPr>
            <a:lvl3pPr>
              <a:defRPr sz="1200">
                <a:solidFill>
                  <a:srgbClr val="666666"/>
                </a:solidFill>
              </a:defRPr>
            </a:lvl3pPr>
            <a:lvl4pPr>
              <a:defRPr sz="1200">
                <a:solidFill>
                  <a:srgbClr val="666666"/>
                </a:solidFill>
              </a:defRPr>
            </a:lvl4pPr>
            <a:lvl5pPr>
              <a:defRPr sz="1200">
                <a:solidFill>
                  <a:srgbClr val="666666"/>
                </a:solidFill>
              </a:defRPr>
            </a:lvl5pPr>
            <a:lvl6pPr>
              <a:defRPr sz="1200">
                <a:solidFill>
                  <a:srgbClr val="666666"/>
                </a:solidFill>
              </a:defRPr>
            </a:lvl6pPr>
            <a:lvl7pPr>
              <a:defRPr sz="1200">
                <a:solidFill>
                  <a:srgbClr val="666666"/>
                </a:solidFill>
              </a:defRPr>
            </a:lvl7pPr>
            <a:lvl8pPr>
              <a:defRPr sz="1200">
                <a:solidFill>
                  <a:srgbClr val="666666"/>
                </a:solidFill>
              </a:defRPr>
            </a:lvl8pPr>
            <a:lvl9pPr>
              <a:defRPr sz="12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202507076 조서빈 · Ubuntu WSL2 실습</a:t>
            </a:r>
          </a:p>
        </p:txBody>
      </p:sp>
    </p:spTree>
    <p:extLst>
      <p:ext uri="{BB962C8B-B14F-4D97-AF65-F5344CB8AC3E}">
        <p14:creationId xmlns:p14="http://schemas.microsoft.com/office/powerpoint/2010/main" val="960034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2026-10-23T12:00:47.4150000Z</dcterms:created>
  <dcterms:modified xsi:type="dcterms:W3CDTF">2026-10-23T12:00:47.4150000Z</dcterms:modified>
</coreProperties>
</file>